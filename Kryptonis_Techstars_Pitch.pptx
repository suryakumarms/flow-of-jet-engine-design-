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image" Target="../media/image-6-27.png"/><Relationship Id="rId28" Type="http://schemas.openxmlformats.org/officeDocument/2006/relationships/image" Target="../media/image-6-28.png"/><Relationship Id="rId29" Type="http://schemas.openxmlformats.org/officeDocument/2006/relationships/image" Target="../media/image-6-29.png"/><Relationship Id="rId30" Type="http://schemas.openxmlformats.org/officeDocument/2006/relationships/image" Target="../media/image-6-30.png"/><Relationship Id="rId31" Type="http://schemas.openxmlformats.org/officeDocument/2006/relationships/image" Target="../media/image-6-31.png"/><Relationship Id="rId32" Type="http://schemas.openxmlformats.org/officeDocument/2006/relationships/image" Target="../media/image-6-32.png"/><Relationship Id="rId33" Type="http://schemas.openxmlformats.org/officeDocument/2006/relationships/image" Target="../media/image-6-33.png"/><Relationship Id="rId34" Type="http://schemas.openxmlformats.org/officeDocument/2006/relationships/image" Target="../media/image-6-34.png"/><Relationship Id="rId35" Type="http://schemas.openxmlformats.org/officeDocument/2006/relationships/image" Target="../media/image-6-35.png"/><Relationship Id="rId36" Type="http://schemas.openxmlformats.org/officeDocument/2006/relationships/image" Target="../media/image-6-36.png"/><Relationship Id="rId37" Type="http://schemas.openxmlformats.org/officeDocument/2006/relationships/image" Target="../media/image-6-37.png"/><Relationship Id="rId38" Type="http://schemas.openxmlformats.org/officeDocument/2006/relationships/image" Target="../media/image-6-38.png"/><Relationship Id="rId39" Type="http://schemas.openxmlformats.org/officeDocument/2006/relationships/image" Target="../media/image-6-39.png"/><Relationship Id="rId40" Type="http://schemas.openxmlformats.org/officeDocument/2006/relationships/image" Target="../media/image-6-40.png"/><Relationship Id="rId41" Type="http://schemas.openxmlformats.org/officeDocument/2006/relationships/image" Target="../media/image-6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6400800" cy="4572000"/>
          </a:xfrm>
          <a:prstGeom prst="ellipse">
            <a:avLst/>
          </a:prstGeom>
          <a:solidFill>
            <a:srgbClr val="001A55">
              <a:alpha val="60000"/>
            </a:srgbClr>
          </a:solidFill>
          <a:ln w="12700">
            <a:solidFill>
              <a:srgbClr val="001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KRYPTONIS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5029200" cy="5029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54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Autonomous Aerospace Design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Mission Brief to Manufacturing-Ready Engine in 60 Seconds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778240" y="685800"/>
            <a:ext cx="2926080" cy="13258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78240" y="685800"/>
            <a:ext cx="54864" cy="13258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9" name="Text 7"/>
          <p:cNvSpPr/>
          <p:nvPr/>
        </p:nvSpPr>
        <p:spPr>
          <a:xfrm>
            <a:off x="8915400" y="731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915400" y="15270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0" y="2194560"/>
            <a:ext cx="2926080" cy="13258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778240" y="2194560"/>
            <a:ext cx="54864" cy="13258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240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11K+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915400" y="30358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Physics Code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3703320"/>
            <a:ext cx="2926080" cy="13258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78240" y="3703320"/>
            <a:ext cx="54864" cy="13258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3749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915400" y="4544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Scales Unified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78240" y="5212080"/>
            <a:ext cx="2926080" cy="13258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778240" y="5212080"/>
            <a:ext cx="54864" cy="13258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1" name="Text 19"/>
          <p:cNvSpPr/>
          <p:nvPr/>
        </p:nvSpPr>
        <p:spPr>
          <a:xfrm>
            <a:off x="8915400" y="5257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$47B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8915400" y="6053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5943600" cy="548640"/>
          </a:xfrm>
          <a:prstGeom prst="rect">
            <a:avLst/>
          </a:prstGeom>
          <a:solidFill>
            <a:srgbClr val="0F2A5C">
              <a:alpha val="40000"/>
            </a:srgbClr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080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 · Jet Engines · Hypersonics · Defense · Space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Designing an aerospace engine today is broken.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74720" cy="44348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474720" cy="54864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 Months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Design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630168"/>
            <a:ext cx="25603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490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bounces between CEA, SolidWorks, ANSYS, and Excel spreadsheets. Every tool handoff introduces errors and delays.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874520"/>
            <a:ext cx="3474720" cy="44348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874520"/>
            <a:ext cx="3474720" cy="54864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1031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$2M+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297680" y="3127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Before First Test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630168"/>
            <a:ext cx="25603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7490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it is engineering hours spent on repetitive, fragmented work. Only well-funded companies can afford this today.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474720" cy="44348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1874520"/>
            <a:ext cx="3474720" cy="54864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10312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8046720" y="3127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Solutions Exist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3630168"/>
            <a:ext cx="25603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74904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Thermochemistry, CFD, FEA, and geometry live in completely separate tools, separate teams, with no shared data layer.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 and Blue Origin each spend $50M+ per year on proprietary toolchains. Everyone else is left behind.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command. A complete, validated, 3D-printable engine.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48006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931920" cy="54864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Kryptonis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3657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Kryptonis is an autonomous computational engineering platform.
</a:t>
            </a:r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a mission brief — thrust, propellant, pressure, reuse target. Kryptonis runs a 7-scale physics pipeline automatically:
</a:t>
            </a:r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chemistry → combustion kinetics → feed system → injector physics → CFD heat flux → FEA stress fields → manufacturing geometry
</a:t>
            </a:r>
            <a:pPr indent="0" marL="0">
              <a:buNone/>
            </a:pPr>
            <a:r>
              <a:rPr lang="en-US" sz="13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fully validated design with regenerative cooling channels, injector plate, propellant plumbing, STL, STEP, and IGES files.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7739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76672" y="17739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Input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76672" y="21214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"500 kN, LOX/CH4, 100 reuses, 80 bar"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374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5374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25740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25740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Chemistry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76672" y="29215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/ JANAF  →  bond energies, reaction enthalpies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3375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672" y="33741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Kinetics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37216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 GRI-Mech  →  Isp, c*, Tc, gamma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1376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41376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41742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41742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System + Injector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76672" y="45217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Pipes, pumps, atomization, mixing efficiency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9377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49377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49743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76672" y="49743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+ FEA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76672" y="53218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OpenFOAM 3D heat flux  +  CalculiX stress fields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5737860"/>
            <a:ext cx="6858000" cy="758952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5737860"/>
            <a:ext cx="54864" cy="758952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57744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5774436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Output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76672" y="61219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STL, STEP, IGES, PicoGK C# — print-ready in 60 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Command. A Complete Engine.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solidFill>
            <a:srgbClr val="03081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8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500" b="1" dirty="0">
                <a:solidFill>
                  <a:srgbClr val="00D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kryptonis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"500 kN LOX/CH4 upper stage, 80 bar, 100 reuses"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520440" cy="38404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697480"/>
            <a:ext cx="3520440" cy="50292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Output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3649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78992" y="33467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= 363 s  (±0.5% vs CEA)</a:t>
            </a:r>
            <a:endParaRPr lang="en-US" sz="12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782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78992" y="4059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= 3,580 K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9145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78992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c* = 1,866 m/s</a:t>
            </a:r>
            <a:endParaRPr lang="en-US" sz="12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046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8992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validation checks passed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297680" y="2697480"/>
            <a:ext cx="3520440" cy="38404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297680" y="2697480"/>
            <a:ext cx="3520440" cy="50292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20" name="Text 14"/>
          <p:cNvSpPr/>
          <p:nvPr/>
        </p:nvSpPr>
        <p:spPr>
          <a:xfrm>
            <a:off x="4297680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Output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36499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28032" y="33467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— 3D printable (LPBF ready)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407822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28032" y="4059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/ IGES (SolidWorks compatible)</a:t>
            </a:r>
            <a:endParaRPr lang="en-US" sz="12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4791456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828032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200-point contour CSV</a:t>
            </a:r>
            <a:endParaRPr lang="en-US" sz="125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5504688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828032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PicoGK voxel C# source code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8046720" y="2697480"/>
            <a:ext cx="3520440" cy="384048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046720" y="2697480"/>
            <a:ext cx="3520440" cy="50292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31" name="Text 21"/>
          <p:cNvSpPr/>
          <p:nvPr/>
        </p:nvSpPr>
        <p:spPr>
          <a:xfrm>
            <a:off x="8046720" y="27614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/ Structural</a:t>
            </a:r>
            <a:endParaRPr lang="en-US" sz="13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3364992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577072" y="33467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wall heat flux map</a:t>
            </a:r>
            <a:endParaRPr lang="en-US" sz="12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4078224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8577072" y="40599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von Mises stress fields</a:t>
            </a:r>
            <a:endParaRPr lang="en-US" sz="125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4791456"/>
            <a:ext cx="256032" cy="256032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577072" y="4773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factor per axial section</a:t>
            </a:r>
            <a:endParaRPr lang="en-US" sz="125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5504688"/>
            <a:ext cx="256032" cy="256032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8577072" y="54864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channel sizing (NASA SP-125)</a:t>
            </a:r>
            <a:endParaRPr lang="en-US" sz="1250" dirty="0"/>
          </a:p>
        </p:txBody>
      </p:sp>
      <p:sp>
        <p:nvSpPr>
          <p:cNvPr id="40" name="Text 26"/>
          <p:cNvSpPr/>
          <p:nvPr/>
        </p:nvSpPr>
        <p:spPr>
          <a:xfrm>
            <a:off x="548640" y="660196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11,444 lines of production Python across 26 modules — Cantera, OpenFOAM, CalculiX, PINN surrogates, PicoGK.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massive, underserved market entering a golden era.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846320"/>
          </a:xfrm>
          <a:prstGeom prst="rect">
            <a:avLst/>
          </a:prstGeom>
          <a:solidFill>
            <a:srgbClr val="0D1A30"/>
          </a:solidFill>
          <a:ln w="25400">
            <a:solidFill>
              <a:srgbClr val="0055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66160" cy="640080"/>
          </a:xfrm>
          <a:prstGeom prst="rect">
            <a:avLst/>
          </a:prstGeom>
          <a:solidFill>
            <a:srgbClr val="0055D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050A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$47B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602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4050792"/>
            <a:ext cx="265176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1605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propulsion engineering services and simulation software across aerospace, defense, space, and hypersonics programs worldwide.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566160" cy="4846320"/>
          </a:xfrm>
          <a:prstGeom prst="rect">
            <a:avLst/>
          </a:prstGeom>
          <a:solidFill>
            <a:srgbClr val="0D1A30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691640"/>
            <a:ext cx="3566160" cy="64008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050A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43400" y="24871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$8.2B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526280" y="3602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4050792"/>
            <a:ext cx="265176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1605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rocket engine and jet engine design software plus engineering services — 500+ active programs globally across 40+ countries.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66160" cy="4846320"/>
          </a:xfrm>
          <a:prstGeom prst="rect">
            <a:avLst/>
          </a:prstGeom>
          <a:solidFill>
            <a:srgbClr val="0D1A30"/>
          </a:solidFill>
          <a:ln w="25400">
            <a:solidFill>
              <a:srgbClr val="00D98B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91640"/>
            <a:ext cx="3566160" cy="640080"/>
          </a:xfrm>
          <a:prstGeom prst="rect">
            <a:avLst/>
          </a:prstGeom>
          <a:solidFill>
            <a:srgbClr val="00D98B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050A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38160" y="248716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$380M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8321040" y="36027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4050792"/>
            <a:ext cx="265176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1605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space startups, defense R&amp;D labs, and university propulsion programs. Year 5 target at 4.5% SAM penetration with 3 pricing tiers.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60196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space economy projected to reach $1.8 trillion by 2035 (Morgan Stanley)  |  New launch vehicle programs growing at 23% CAGR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one has connected the full stack. Until now.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200400" cy="54864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91640"/>
            <a:ext cx="1719072" cy="54864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7373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85232" y="1691640"/>
            <a:ext cx="1719072" cy="54864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10" name="Text 8"/>
          <p:cNvSpPr/>
          <p:nvPr/>
        </p:nvSpPr>
        <p:spPr>
          <a:xfrm>
            <a:off x="5285232" y="17373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SolidWorks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04304" y="1691640"/>
            <a:ext cx="1719072" cy="54864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004304" y="17373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CEA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23376" y="1691640"/>
            <a:ext cx="1719072" cy="54864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7373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LEAP71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442448" y="1691640"/>
            <a:ext cx="1719072" cy="54864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6" name="Text 14"/>
          <p:cNvSpPr/>
          <p:nvPr/>
        </p:nvSpPr>
        <p:spPr>
          <a:xfrm>
            <a:off x="10442448" y="17373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KRYPTONIS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3200400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27685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 from requirements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2240280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304288"/>
            <a:ext cx="347472" cy="34747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285232" y="2240280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2304288"/>
            <a:ext cx="347472" cy="347472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004304" y="2240280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104" y="2304288"/>
            <a:ext cx="347472" cy="34747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723376" y="2240280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304288"/>
            <a:ext cx="347472" cy="34747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442448" y="2240280"/>
            <a:ext cx="1719072" cy="475488"/>
          </a:xfrm>
          <a:prstGeom prst="rect">
            <a:avLst/>
          </a:prstGeom>
          <a:solidFill>
            <a:srgbClr val="0F2D6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8248" y="2304288"/>
            <a:ext cx="347472" cy="34747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65760" y="2715768"/>
            <a:ext cx="3200400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0" name="Text 23"/>
          <p:cNvSpPr/>
          <p:nvPr/>
        </p:nvSpPr>
        <p:spPr>
          <a:xfrm>
            <a:off x="475488" y="2752344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chemistry (Cantera)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566160" y="2715768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779776"/>
            <a:ext cx="347472" cy="347472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285232" y="2715768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1032" y="2779776"/>
            <a:ext cx="347472" cy="347472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004304" y="2715768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0104" y="2779776"/>
            <a:ext cx="347472" cy="347472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723376" y="2715768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9176" y="2779776"/>
            <a:ext cx="347472" cy="347472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10442448" y="2715768"/>
            <a:ext cx="1719072" cy="475488"/>
          </a:xfrm>
          <a:prstGeom prst="rect">
            <a:avLst/>
          </a:prstGeom>
          <a:solidFill>
            <a:srgbClr val="0D2860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8248" y="2779776"/>
            <a:ext cx="347472" cy="347472"/>
          </a:xfrm>
          <a:prstGeom prst="rect">
            <a:avLst/>
          </a:prstGeom>
        </p:spPr>
      </p:pic>
      <p:sp>
        <p:nvSpPr>
          <p:cNvPr id="41" name="Shape 29"/>
          <p:cNvSpPr/>
          <p:nvPr/>
        </p:nvSpPr>
        <p:spPr>
          <a:xfrm>
            <a:off x="365760" y="3191256"/>
            <a:ext cx="3200400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42" name="Text 30"/>
          <p:cNvSpPr/>
          <p:nvPr/>
        </p:nvSpPr>
        <p:spPr>
          <a:xfrm>
            <a:off x="475488" y="322783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CFD (OpenFOAM)</a:t>
            </a:r>
            <a:endParaRPr lang="en-US" sz="1200" dirty="0"/>
          </a:p>
        </p:txBody>
      </p:sp>
      <p:sp>
        <p:nvSpPr>
          <p:cNvPr id="43" name="Shape 31"/>
          <p:cNvSpPr/>
          <p:nvPr/>
        </p:nvSpPr>
        <p:spPr>
          <a:xfrm>
            <a:off x="3566160" y="3191256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1960" y="3255264"/>
            <a:ext cx="347472" cy="347472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285232" y="3191256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1032" y="3255264"/>
            <a:ext cx="347472" cy="347472"/>
          </a:xfrm>
          <a:prstGeom prst="rect">
            <a:avLst/>
          </a:prstGeom>
        </p:spPr>
      </p:pic>
      <p:sp>
        <p:nvSpPr>
          <p:cNvPr id="47" name="Shape 33"/>
          <p:cNvSpPr/>
          <p:nvPr/>
        </p:nvSpPr>
        <p:spPr>
          <a:xfrm>
            <a:off x="7004304" y="3191256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0104" y="3255264"/>
            <a:ext cx="347472" cy="347472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8723376" y="3191256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9176" y="3255264"/>
            <a:ext cx="347472" cy="347472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10442448" y="3191256"/>
            <a:ext cx="1719072" cy="475488"/>
          </a:xfrm>
          <a:prstGeom prst="rect">
            <a:avLst/>
          </a:prstGeom>
          <a:solidFill>
            <a:srgbClr val="0F2D6A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28248" y="3255264"/>
            <a:ext cx="347472" cy="347472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365760" y="3666744"/>
            <a:ext cx="3200400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54" name="Text 37"/>
          <p:cNvSpPr/>
          <p:nvPr/>
        </p:nvSpPr>
        <p:spPr>
          <a:xfrm>
            <a:off x="475488" y="370332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 structural analysis</a:t>
            </a:r>
            <a:endParaRPr lang="en-US" sz="1200" dirty="0"/>
          </a:p>
        </p:txBody>
      </p:sp>
      <p:sp>
        <p:nvSpPr>
          <p:cNvPr id="55" name="Shape 38"/>
          <p:cNvSpPr/>
          <p:nvPr/>
        </p:nvSpPr>
        <p:spPr>
          <a:xfrm>
            <a:off x="3566160" y="3666744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5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1960" y="3730752"/>
            <a:ext cx="347472" cy="347472"/>
          </a:xfrm>
          <a:prstGeom prst="rect">
            <a:avLst/>
          </a:prstGeom>
        </p:spPr>
      </p:pic>
      <p:sp>
        <p:nvSpPr>
          <p:cNvPr id="57" name="Shape 39"/>
          <p:cNvSpPr/>
          <p:nvPr/>
        </p:nvSpPr>
        <p:spPr>
          <a:xfrm>
            <a:off x="5285232" y="3666744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71032" y="3730752"/>
            <a:ext cx="347472" cy="347472"/>
          </a:xfrm>
          <a:prstGeom prst="rect">
            <a:avLst/>
          </a:prstGeom>
        </p:spPr>
      </p:pic>
      <p:sp>
        <p:nvSpPr>
          <p:cNvPr id="59" name="Shape 40"/>
          <p:cNvSpPr/>
          <p:nvPr/>
        </p:nvSpPr>
        <p:spPr>
          <a:xfrm>
            <a:off x="7004304" y="3666744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0104" y="3730752"/>
            <a:ext cx="347472" cy="347472"/>
          </a:xfrm>
          <a:prstGeom prst="rect">
            <a:avLst/>
          </a:prstGeom>
        </p:spPr>
      </p:pic>
      <p:sp>
        <p:nvSpPr>
          <p:cNvPr id="61" name="Shape 41"/>
          <p:cNvSpPr/>
          <p:nvPr/>
        </p:nvSpPr>
        <p:spPr>
          <a:xfrm>
            <a:off x="8723376" y="3666744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09176" y="3730752"/>
            <a:ext cx="347472" cy="347472"/>
          </a:xfrm>
          <a:prstGeom prst="rect">
            <a:avLst/>
          </a:prstGeom>
        </p:spPr>
      </p:pic>
      <p:sp>
        <p:nvSpPr>
          <p:cNvPr id="63" name="Shape 42"/>
          <p:cNvSpPr/>
          <p:nvPr/>
        </p:nvSpPr>
        <p:spPr>
          <a:xfrm>
            <a:off x="10442448" y="3666744"/>
            <a:ext cx="1719072" cy="475488"/>
          </a:xfrm>
          <a:prstGeom prst="rect">
            <a:avLst/>
          </a:prstGeom>
          <a:solidFill>
            <a:srgbClr val="0D2860"/>
          </a:solidFill>
          <a:ln/>
        </p:spPr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28248" y="3730752"/>
            <a:ext cx="347472" cy="347472"/>
          </a:xfrm>
          <a:prstGeom prst="rect">
            <a:avLst/>
          </a:prstGeom>
        </p:spPr>
      </p:pic>
      <p:sp>
        <p:nvSpPr>
          <p:cNvPr id="65" name="Shape 43"/>
          <p:cNvSpPr/>
          <p:nvPr/>
        </p:nvSpPr>
        <p:spPr>
          <a:xfrm>
            <a:off x="365760" y="4142232"/>
            <a:ext cx="3200400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66" name="Text 44"/>
          <p:cNvSpPr/>
          <p:nvPr/>
        </p:nvSpPr>
        <p:spPr>
          <a:xfrm>
            <a:off x="475488" y="4178808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 + feed system</a:t>
            </a:r>
            <a:endParaRPr lang="en-US" sz="1200" dirty="0"/>
          </a:p>
        </p:txBody>
      </p:sp>
      <p:sp>
        <p:nvSpPr>
          <p:cNvPr id="67" name="Shape 45"/>
          <p:cNvSpPr/>
          <p:nvPr/>
        </p:nvSpPr>
        <p:spPr>
          <a:xfrm>
            <a:off x="3566160" y="4142232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51960" y="4206240"/>
            <a:ext cx="347472" cy="347472"/>
          </a:xfrm>
          <a:prstGeom prst="rect">
            <a:avLst/>
          </a:prstGeom>
        </p:spPr>
      </p:pic>
      <p:sp>
        <p:nvSpPr>
          <p:cNvPr id="69" name="Shape 46"/>
          <p:cNvSpPr/>
          <p:nvPr/>
        </p:nvSpPr>
        <p:spPr>
          <a:xfrm>
            <a:off x="5285232" y="4142232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71032" y="4206240"/>
            <a:ext cx="347472" cy="347472"/>
          </a:xfrm>
          <a:prstGeom prst="rect">
            <a:avLst/>
          </a:prstGeom>
        </p:spPr>
      </p:pic>
      <p:sp>
        <p:nvSpPr>
          <p:cNvPr id="71" name="Shape 47"/>
          <p:cNvSpPr/>
          <p:nvPr/>
        </p:nvSpPr>
        <p:spPr>
          <a:xfrm>
            <a:off x="7004304" y="4142232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7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90104" y="4206240"/>
            <a:ext cx="347472" cy="347472"/>
          </a:xfrm>
          <a:prstGeom prst="rect">
            <a:avLst/>
          </a:prstGeom>
        </p:spPr>
      </p:pic>
      <p:sp>
        <p:nvSpPr>
          <p:cNvPr id="73" name="Shape 48"/>
          <p:cNvSpPr/>
          <p:nvPr/>
        </p:nvSpPr>
        <p:spPr>
          <a:xfrm>
            <a:off x="8723376" y="4142232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74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09176" y="4206240"/>
            <a:ext cx="347472" cy="347472"/>
          </a:xfrm>
          <a:prstGeom prst="rect">
            <a:avLst/>
          </a:prstGeom>
        </p:spPr>
      </p:pic>
      <p:sp>
        <p:nvSpPr>
          <p:cNvPr id="75" name="Shape 49"/>
          <p:cNvSpPr/>
          <p:nvPr/>
        </p:nvSpPr>
        <p:spPr>
          <a:xfrm>
            <a:off x="10442448" y="4142232"/>
            <a:ext cx="1719072" cy="475488"/>
          </a:xfrm>
          <a:prstGeom prst="rect">
            <a:avLst/>
          </a:prstGeom>
          <a:solidFill>
            <a:srgbClr val="0F2D6A"/>
          </a:solidFill>
          <a:ln/>
        </p:spPr>
      </p:sp>
      <p:pic>
        <p:nvPicPr>
          <p:cNvPr id="7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28248" y="4206240"/>
            <a:ext cx="347472" cy="347472"/>
          </a:xfrm>
          <a:prstGeom prst="rect">
            <a:avLst/>
          </a:prstGeom>
        </p:spPr>
      </p:pic>
      <p:sp>
        <p:nvSpPr>
          <p:cNvPr id="77" name="Shape 50"/>
          <p:cNvSpPr/>
          <p:nvPr/>
        </p:nvSpPr>
        <p:spPr>
          <a:xfrm>
            <a:off x="365760" y="4617720"/>
            <a:ext cx="3200400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78" name="Text 51"/>
          <p:cNvSpPr/>
          <p:nvPr/>
        </p:nvSpPr>
        <p:spPr>
          <a:xfrm>
            <a:off x="475488" y="4654296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channel design</a:t>
            </a:r>
            <a:endParaRPr lang="en-US" sz="1200" dirty="0"/>
          </a:p>
        </p:txBody>
      </p:sp>
      <p:sp>
        <p:nvSpPr>
          <p:cNvPr id="79" name="Shape 52"/>
          <p:cNvSpPr/>
          <p:nvPr/>
        </p:nvSpPr>
        <p:spPr>
          <a:xfrm>
            <a:off x="3566160" y="4617720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80" name="Text 53"/>
          <p:cNvSpPr/>
          <p:nvPr/>
        </p:nvSpPr>
        <p:spPr>
          <a:xfrm>
            <a:off x="3566160" y="465429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81" name="Shape 54"/>
          <p:cNvSpPr/>
          <p:nvPr/>
        </p:nvSpPr>
        <p:spPr>
          <a:xfrm>
            <a:off x="5285232" y="4617720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82" name="Text 55"/>
          <p:cNvSpPr/>
          <p:nvPr/>
        </p:nvSpPr>
        <p:spPr>
          <a:xfrm>
            <a:off x="5285232" y="465429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83" name="Shape 56"/>
          <p:cNvSpPr/>
          <p:nvPr/>
        </p:nvSpPr>
        <p:spPr>
          <a:xfrm>
            <a:off x="7004304" y="4617720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90104" y="4681728"/>
            <a:ext cx="347472" cy="347472"/>
          </a:xfrm>
          <a:prstGeom prst="rect">
            <a:avLst/>
          </a:prstGeom>
        </p:spPr>
      </p:pic>
      <p:sp>
        <p:nvSpPr>
          <p:cNvPr id="85" name="Shape 57"/>
          <p:cNvSpPr/>
          <p:nvPr/>
        </p:nvSpPr>
        <p:spPr>
          <a:xfrm>
            <a:off x="8723376" y="4617720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8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09176" y="4681728"/>
            <a:ext cx="347472" cy="347472"/>
          </a:xfrm>
          <a:prstGeom prst="rect">
            <a:avLst/>
          </a:prstGeom>
        </p:spPr>
      </p:pic>
      <p:sp>
        <p:nvSpPr>
          <p:cNvPr id="87" name="Shape 58"/>
          <p:cNvSpPr/>
          <p:nvPr/>
        </p:nvSpPr>
        <p:spPr>
          <a:xfrm>
            <a:off x="10442448" y="4617720"/>
            <a:ext cx="1719072" cy="475488"/>
          </a:xfrm>
          <a:prstGeom prst="rect">
            <a:avLst/>
          </a:prstGeom>
          <a:solidFill>
            <a:srgbClr val="0D2860"/>
          </a:solidFill>
          <a:ln/>
        </p:spPr>
      </p:sp>
      <p:pic>
        <p:nvPicPr>
          <p:cNvPr id="8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128248" y="4681728"/>
            <a:ext cx="347472" cy="347472"/>
          </a:xfrm>
          <a:prstGeom prst="rect">
            <a:avLst/>
          </a:prstGeom>
        </p:spPr>
      </p:pic>
      <p:sp>
        <p:nvSpPr>
          <p:cNvPr id="89" name="Shape 59"/>
          <p:cNvSpPr/>
          <p:nvPr/>
        </p:nvSpPr>
        <p:spPr>
          <a:xfrm>
            <a:off x="365760" y="5093208"/>
            <a:ext cx="3200400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90" name="Text 60"/>
          <p:cNvSpPr/>
          <p:nvPr/>
        </p:nvSpPr>
        <p:spPr>
          <a:xfrm>
            <a:off x="475488" y="5129784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STL/STEP</a:t>
            </a:r>
            <a:endParaRPr lang="en-US" sz="1200" dirty="0"/>
          </a:p>
        </p:txBody>
      </p:sp>
      <p:sp>
        <p:nvSpPr>
          <p:cNvPr id="91" name="Shape 61"/>
          <p:cNvSpPr/>
          <p:nvPr/>
        </p:nvSpPr>
        <p:spPr>
          <a:xfrm>
            <a:off x="3566160" y="5093208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92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51960" y="5157216"/>
            <a:ext cx="347472" cy="347472"/>
          </a:xfrm>
          <a:prstGeom prst="rect">
            <a:avLst/>
          </a:prstGeom>
        </p:spPr>
      </p:pic>
      <p:sp>
        <p:nvSpPr>
          <p:cNvPr id="93" name="Shape 62"/>
          <p:cNvSpPr/>
          <p:nvPr/>
        </p:nvSpPr>
        <p:spPr>
          <a:xfrm>
            <a:off x="5285232" y="5093208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9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971032" y="5157216"/>
            <a:ext cx="347472" cy="347472"/>
          </a:xfrm>
          <a:prstGeom prst="rect">
            <a:avLst/>
          </a:prstGeom>
        </p:spPr>
      </p:pic>
      <p:sp>
        <p:nvSpPr>
          <p:cNvPr id="95" name="Shape 63"/>
          <p:cNvSpPr/>
          <p:nvPr/>
        </p:nvSpPr>
        <p:spPr>
          <a:xfrm>
            <a:off x="7004304" y="5093208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96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90104" y="5157216"/>
            <a:ext cx="347472" cy="347472"/>
          </a:xfrm>
          <a:prstGeom prst="rect">
            <a:avLst/>
          </a:prstGeom>
        </p:spPr>
      </p:pic>
      <p:sp>
        <p:nvSpPr>
          <p:cNvPr id="97" name="Shape 64"/>
          <p:cNvSpPr/>
          <p:nvPr/>
        </p:nvSpPr>
        <p:spPr>
          <a:xfrm>
            <a:off x="8723376" y="5093208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98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09176" y="5157216"/>
            <a:ext cx="347472" cy="347472"/>
          </a:xfrm>
          <a:prstGeom prst="rect">
            <a:avLst/>
          </a:prstGeom>
        </p:spPr>
      </p:pic>
      <p:sp>
        <p:nvSpPr>
          <p:cNvPr id="99" name="Shape 65"/>
          <p:cNvSpPr/>
          <p:nvPr/>
        </p:nvSpPr>
        <p:spPr>
          <a:xfrm>
            <a:off x="10442448" y="5093208"/>
            <a:ext cx="1719072" cy="475488"/>
          </a:xfrm>
          <a:prstGeom prst="rect">
            <a:avLst/>
          </a:prstGeom>
          <a:solidFill>
            <a:srgbClr val="0F2D6A"/>
          </a:solidFill>
          <a:ln/>
        </p:spPr>
      </p:sp>
      <p:pic>
        <p:nvPicPr>
          <p:cNvPr id="100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128248" y="5157216"/>
            <a:ext cx="347472" cy="347472"/>
          </a:xfrm>
          <a:prstGeom prst="rect">
            <a:avLst/>
          </a:prstGeom>
        </p:spPr>
      </p:pic>
      <p:sp>
        <p:nvSpPr>
          <p:cNvPr id="101" name="Shape 66"/>
          <p:cNvSpPr/>
          <p:nvPr/>
        </p:nvSpPr>
        <p:spPr>
          <a:xfrm>
            <a:off x="365760" y="5568696"/>
            <a:ext cx="3200400" cy="475488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102" name="Text 67"/>
          <p:cNvSpPr/>
          <p:nvPr/>
        </p:nvSpPr>
        <p:spPr>
          <a:xfrm>
            <a:off x="475488" y="5605272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surrogate (5 ms CFD)</a:t>
            </a:r>
            <a:endParaRPr lang="en-US" sz="1200" dirty="0"/>
          </a:p>
        </p:txBody>
      </p:sp>
      <p:sp>
        <p:nvSpPr>
          <p:cNvPr id="103" name="Shape 68"/>
          <p:cNvSpPr/>
          <p:nvPr/>
        </p:nvSpPr>
        <p:spPr>
          <a:xfrm>
            <a:off x="3566160" y="5568696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10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51960" y="5632704"/>
            <a:ext cx="347472" cy="347472"/>
          </a:xfrm>
          <a:prstGeom prst="rect">
            <a:avLst/>
          </a:prstGeom>
        </p:spPr>
      </p:pic>
      <p:sp>
        <p:nvSpPr>
          <p:cNvPr id="105" name="Shape 69"/>
          <p:cNvSpPr/>
          <p:nvPr/>
        </p:nvSpPr>
        <p:spPr>
          <a:xfrm>
            <a:off x="5285232" y="5568696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10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71032" y="5632704"/>
            <a:ext cx="347472" cy="347472"/>
          </a:xfrm>
          <a:prstGeom prst="rect">
            <a:avLst/>
          </a:prstGeom>
        </p:spPr>
      </p:pic>
      <p:sp>
        <p:nvSpPr>
          <p:cNvPr id="107" name="Shape 70"/>
          <p:cNvSpPr/>
          <p:nvPr/>
        </p:nvSpPr>
        <p:spPr>
          <a:xfrm>
            <a:off x="7004304" y="5568696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108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90104" y="5632704"/>
            <a:ext cx="347472" cy="347472"/>
          </a:xfrm>
          <a:prstGeom prst="rect">
            <a:avLst/>
          </a:prstGeom>
        </p:spPr>
      </p:pic>
      <p:sp>
        <p:nvSpPr>
          <p:cNvPr id="109" name="Shape 71"/>
          <p:cNvSpPr/>
          <p:nvPr/>
        </p:nvSpPr>
        <p:spPr>
          <a:xfrm>
            <a:off x="8723376" y="5568696"/>
            <a:ext cx="1719072" cy="475488"/>
          </a:xfrm>
          <a:prstGeom prst="rect">
            <a:avLst/>
          </a:prstGeom>
          <a:solidFill>
            <a:srgbClr val="0B1528"/>
          </a:solidFill>
          <a:ln/>
        </p:spPr>
      </p:sp>
      <p:pic>
        <p:nvPicPr>
          <p:cNvPr id="11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409176" y="5632704"/>
            <a:ext cx="347472" cy="347472"/>
          </a:xfrm>
          <a:prstGeom prst="rect">
            <a:avLst/>
          </a:prstGeom>
        </p:spPr>
      </p:pic>
      <p:sp>
        <p:nvSpPr>
          <p:cNvPr id="111" name="Shape 72"/>
          <p:cNvSpPr/>
          <p:nvPr/>
        </p:nvSpPr>
        <p:spPr>
          <a:xfrm>
            <a:off x="10442448" y="5568696"/>
            <a:ext cx="1719072" cy="475488"/>
          </a:xfrm>
          <a:prstGeom prst="rect">
            <a:avLst/>
          </a:prstGeom>
          <a:solidFill>
            <a:srgbClr val="0D2860"/>
          </a:solidFill>
          <a:ln/>
        </p:spPr>
      </p:sp>
      <p:pic>
        <p:nvPicPr>
          <p:cNvPr id="112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128248" y="5632704"/>
            <a:ext cx="347472" cy="347472"/>
          </a:xfrm>
          <a:prstGeom prst="rect">
            <a:avLst/>
          </a:prstGeom>
        </p:spPr>
      </p:pic>
      <p:sp>
        <p:nvSpPr>
          <p:cNvPr id="113" name="Shape 73"/>
          <p:cNvSpPr/>
          <p:nvPr/>
        </p:nvSpPr>
        <p:spPr>
          <a:xfrm>
            <a:off x="365760" y="6044184"/>
            <a:ext cx="3200400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114" name="Text 74"/>
          <p:cNvSpPr/>
          <p:nvPr/>
        </p:nvSpPr>
        <p:spPr>
          <a:xfrm>
            <a:off x="475488" y="608076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convergence loop</a:t>
            </a:r>
            <a:endParaRPr lang="en-US" sz="1200" dirty="0"/>
          </a:p>
        </p:txBody>
      </p:sp>
      <p:sp>
        <p:nvSpPr>
          <p:cNvPr id="115" name="Shape 75"/>
          <p:cNvSpPr/>
          <p:nvPr/>
        </p:nvSpPr>
        <p:spPr>
          <a:xfrm>
            <a:off x="3566160" y="6044184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116" name="Text 76"/>
          <p:cNvSpPr/>
          <p:nvPr/>
        </p:nvSpPr>
        <p:spPr>
          <a:xfrm>
            <a:off x="3566160" y="60807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117" name="Shape 77"/>
          <p:cNvSpPr/>
          <p:nvPr/>
        </p:nvSpPr>
        <p:spPr>
          <a:xfrm>
            <a:off x="5285232" y="6044184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sp>
        <p:nvSpPr>
          <p:cNvPr id="118" name="Text 78"/>
          <p:cNvSpPr/>
          <p:nvPr/>
        </p:nvSpPr>
        <p:spPr>
          <a:xfrm>
            <a:off x="5285232" y="60807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119" name="Shape 79"/>
          <p:cNvSpPr/>
          <p:nvPr/>
        </p:nvSpPr>
        <p:spPr>
          <a:xfrm>
            <a:off x="7004304" y="6044184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12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690104" y="6108192"/>
            <a:ext cx="347472" cy="347472"/>
          </a:xfrm>
          <a:prstGeom prst="rect">
            <a:avLst/>
          </a:prstGeom>
        </p:spPr>
      </p:pic>
      <p:sp>
        <p:nvSpPr>
          <p:cNvPr id="121" name="Shape 80"/>
          <p:cNvSpPr/>
          <p:nvPr/>
        </p:nvSpPr>
        <p:spPr>
          <a:xfrm>
            <a:off x="8723376" y="6044184"/>
            <a:ext cx="1719072" cy="475488"/>
          </a:xfrm>
          <a:prstGeom prst="rect">
            <a:avLst/>
          </a:prstGeom>
          <a:solidFill>
            <a:srgbClr val="0D1A30"/>
          </a:solidFill>
          <a:ln/>
        </p:spPr>
      </p:sp>
      <p:pic>
        <p:nvPicPr>
          <p:cNvPr id="122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09176" y="6108192"/>
            <a:ext cx="347472" cy="347472"/>
          </a:xfrm>
          <a:prstGeom prst="rect">
            <a:avLst/>
          </a:prstGeom>
        </p:spPr>
      </p:pic>
      <p:sp>
        <p:nvSpPr>
          <p:cNvPr id="123" name="Shape 81"/>
          <p:cNvSpPr/>
          <p:nvPr/>
        </p:nvSpPr>
        <p:spPr>
          <a:xfrm>
            <a:off x="10442448" y="6044184"/>
            <a:ext cx="1719072" cy="475488"/>
          </a:xfrm>
          <a:prstGeom prst="rect">
            <a:avLst/>
          </a:prstGeom>
          <a:solidFill>
            <a:srgbClr val="0F2D6A"/>
          </a:solidFill>
          <a:ln/>
        </p:spPr>
      </p:sp>
      <p:pic>
        <p:nvPicPr>
          <p:cNvPr id="124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128248" y="6108192"/>
            <a:ext cx="347472" cy="347472"/>
          </a:xfrm>
          <a:prstGeom prst="rect">
            <a:avLst/>
          </a:prstGeom>
        </p:spPr>
      </p:pic>
      <p:sp>
        <p:nvSpPr>
          <p:cNvPr id="125" name="Text 82"/>
          <p:cNvSpPr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Kryptonis is the only platform covering every capability in a single automated, self-correcting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Freemium core. Premium intelligence.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572000"/>
          </a:xfrm>
          <a:prstGeom prst="rect">
            <a:avLst/>
          </a:prstGeom>
          <a:solidFill>
            <a:srgbClr val="0D1A30"/>
          </a:solidFill>
          <a:ln w="12700">
            <a:solidFill>
              <a:srgbClr val="0F2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520440" cy="59436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01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 / mo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310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749040"/>
            <a:ext cx="2606040" cy="36576"/>
          </a:xfrm>
          <a:prstGeom prst="rect">
            <a:avLst/>
          </a:prstGeom>
          <a:solidFill>
            <a:srgbClr val="172B5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9534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15568" y="3877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physics pipeline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622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fallback solvers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0292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PicoGK geometry output</a:t>
            </a:r>
            <a:endParaRPr lang="en-US" sz="12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961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 + docs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297680" y="1737360"/>
            <a:ext cx="3520440" cy="4572000"/>
          </a:xfrm>
          <a:prstGeom prst="rect">
            <a:avLst/>
          </a:prstGeom>
          <a:solidFill>
            <a:srgbClr val="0A1E3D"/>
          </a:solidFill>
          <a:ln w="25400">
            <a:solidFill>
              <a:srgbClr val="00C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297680" y="1737360"/>
            <a:ext cx="3520440" cy="59436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1" name="Text 15"/>
          <p:cNvSpPr/>
          <p:nvPr/>
        </p:nvSpPr>
        <p:spPr>
          <a:xfrm>
            <a:off x="4297680" y="1801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50A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297680" y="24871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$2,500 / mo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4297680" y="3310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Research Labs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754880" y="3749040"/>
            <a:ext cx="2606040" cy="36576"/>
          </a:xfrm>
          <a:prstGeom prst="rect">
            <a:avLst/>
          </a:prstGeom>
          <a:solidFill>
            <a:srgbClr val="172B5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89534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64608" y="3877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surrogate (CFD in 5 ms)</a:t>
            </a:r>
            <a:endParaRPr lang="en-US" sz="12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46227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64608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 material databases</a:t>
            </a:r>
            <a:endParaRPr lang="en-US" sz="12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5029200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864608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OpenFOAM case management</a:t>
            </a:r>
            <a:endParaRPr lang="en-US" sz="12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5596128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4864608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API access</a:t>
            </a:r>
            <a:endParaRPr lang="en-US" sz="1250" dirty="0"/>
          </a:p>
        </p:txBody>
      </p:sp>
      <p:sp>
        <p:nvSpPr>
          <p:cNvPr id="33" name="Shape 23"/>
          <p:cNvSpPr/>
          <p:nvPr/>
        </p:nvSpPr>
        <p:spPr>
          <a:xfrm>
            <a:off x="8046720" y="1737360"/>
            <a:ext cx="3520440" cy="4572000"/>
          </a:xfrm>
          <a:prstGeom prst="rect">
            <a:avLst/>
          </a:prstGeom>
          <a:solidFill>
            <a:srgbClr val="0D1A30"/>
          </a:solidFill>
          <a:ln w="12700">
            <a:solidFill>
              <a:srgbClr val="0055DD"/>
            </a:solidFill>
            <a:prstDash val="solid"/>
          </a:ln>
        </p:spPr>
      </p:sp>
      <p:sp>
        <p:nvSpPr>
          <p:cNvPr id="34" name="Shape 24"/>
          <p:cNvSpPr/>
          <p:nvPr/>
        </p:nvSpPr>
        <p:spPr>
          <a:xfrm>
            <a:off x="8046720" y="1737360"/>
            <a:ext cx="3520440" cy="594360"/>
          </a:xfrm>
          <a:prstGeom prst="rect">
            <a:avLst/>
          </a:prstGeom>
          <a:solidFill>
            <a:srgbClr val="0055DD"/>
          </a:solidFill>
          <a:ln/>
        </p:spPr>
      </p:sp>
      <p:sp>
        <p:nvSpPr>
          <p:cNvPr id="35" name="Text 25"/>
          <p:cNvSpPr/>
          <p:nvPr/>
        </p:nvSpPr>
        <p:spPr>
          <a:xfrm>
            <a:off x="8046720" y="1801368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36" name="Text 26"/>
          <p:cNvSpPr/>
          <p:nvPr/>
        </p:nvSpPr>
        <p:spPr>
          <a:xfrm>
            <a:off x="8046720" y="248716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000" dirty="0"/>
          </a:p>
        </p:txBody>
      </p:sp>
      <p:sp>
        <p:nvSpPr>
          <p:cNvPr id="37" name="Text 27"/>
          <p:cNvSpPr/>
          <p:nvPr/>
        </p:nvSpPr>
        <p:spPr>
          <a:xfrm>
            <a:off x="8046720" y="3310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55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&amp; Defense Contractors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8503920" y="3749040"/>
            <a:ext cx="2606040" cy="36576"/>
          </a:xfrm>
          <a:prstGeom prst="rect">
            <a:avLst/>
          </a:prstGeom>
          <a:solidFill>
            <a:srgbClr val="172B50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0" y="3895344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613648" y="38770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deployment</a:t>
            </a:r>
            <a:endParaRPr lang="en-US" sz="1250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5320" y="4462272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613648" y="4443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ITAR-controlled data handling</a:t>
            </a:r>
            <a:endParaRPr lang="en-US" sz="12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5029200"/>
            <a:ext cx="237744" cy="23774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613648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engineering reports</a:t>
            </a:r>
            <a:endParaRPr lang="en-US" sz="1250" dirty="0"/>
          </a:p>
        </p:txBody>
      </p:sp>
      <p:pic>
        <p:nvPicPr>
          <p:cNvPr id="4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5320" y="5596128"/>
            <a:ext cx="237744" cy="237744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8613648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engineering support</a:t>
            </a:r>
            <a:endParaRPr lang="en-US" sz="1250" dirty="0"/>
          </a:p>
        </p:txBody>
      </p:sp>
      <p:sp>
        <p:nvSpPr>
          <p:cNvPr id="47" name="Shape 33"/>
          <p:cNvSpPr/>
          <p:nvPr/>
        </p:nvSpPr>
        <p:spPr>
          <a:xfrm>
            <a:off x="548640" y="6473952"/>
            <a:ext cx="11064240" cy="310896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48" name="Text 34"/>
          <p:cNvSpPr/>
          <p:nvPr/>
        </p:nvSpPr>
        <p:spPr>
          <a:xfrm>
            <a:off x="548640" y="65013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 Y1 $180K ARR   →   Y2 $850K   →   Y3 $3.2M   →   Y5 $14M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2560320" cy="16002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Modules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pipeline, validated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822960"/>
            <a:ext cx="2560320" cy="16002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35+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Checks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design, automated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560320" cy="16002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4,332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12648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Jet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GE-class aero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822960"/>
            <a:ext cx="2560320" cy="16002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15400" y="8686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915400" y="1783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Output Formats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STL, STEP, IGES, PicoGK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218688"/>
            <a:ext cx="11064240" cy="45720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3108960"/>
            <a:ext cx="219456" cy="219456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383280"/>
            <a:ext cx="2606040" cy="32004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83280"/>
            <a:ext cx="2606040" cy="438912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447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to M3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950208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24128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solver validation on-device</a:t>
            </a:r>
            <a:endParaRPr lang="en-US" sz="12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754880"/>
            <a:ext cx="228600" cy="2286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24128" y="4736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 + OpenFOAM hot-fire data</a:t>
            </a:r>
            <a:endParaRPr lang="en-US" sz="12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559552"/>
            <a:ext cx="228600" cy="228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24128" y="5541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 beta customers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26280" y="3108960"/>
            <a:ext cx="219456" cy="219456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33" name="Shape 28"/>
          <p:cNvSpPr/>
          <p:nvPr/>
        </p:nvSpPr>
        <p:spPr>
          <a:xfrm>
            <a:off x="3337560" y="3383280"/>
            <a:ext cx="2606040" cy="32004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337560" y="3383280"/>
            <a:ext cx="2606040" cy="438912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35" name="Text 30"/>
          <p:cNvSpPr/>
          <p:nvPr/>
        </p:nvSpPr>
        <p:spPr>
          <a:xfrm>
            <a:off x="3337560" y="3447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to M6</a:t>
            </a:r>
            <a:endParaRPr lang="en-US" sz="12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3950208"/>
            <a:ext cx="228600" cy="22860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813048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Phase 2 training on 100+ CFD runs</a:t>
            </a:r>
            <a:endParaRPr lang="en-US" sz="12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4754880"/>
            <a:ext cx="228600" cy="228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813048" y="4736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closed</a:t>
            </a:r>
            <a:endParaRPr lang="en-US" sz="12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5559552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813048" y="5541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design partners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7315200" y="3108960"/>
            <a:ext cx="219456" cy="219456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43" name="Shape 35"/>
          <p:cNvSpPr/>
          <p:nvPr/>
        </p:nvSpPr>
        <p:spPr>
          <a:xfrm>
            <a:off x="6126480" y="3383280"/>
            <a:ext cx="2606040" cy="32004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126480" y="3383280"/>
            <a:ext cx="2606040" cy="438912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45" name="Text 37"/>
          <p:cNvSpPr/>
          <p:nvPr/>
        </p:nvSpPr>
        <p:spPr>
          <a:xfrm>
            <a:off x="6126480" y="3447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to M9</a:t>
            </a:r>
            <a:endParaRPr lang="en-US" sz="12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3950208"/>
            <a:ext cx="228600" cy="2286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601968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3D-printed KRYPTONIS part</a:t>
            </a:r>
            <a:endParaRPr lang="en-US" sz="1200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4754880"/>
            <a:ext cx="228600" cy="22860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601968" y="4736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Hot-fire validation loop proven</a:t>
            </a:r>
            <a:endParaRPr lang="en-US" sz="12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5559552"/>
            <a:ext cx="228600" cy="2286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6601968" y="5541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enterprise pilot contracts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10104120" y="3108960"/>
            <a:ext cx="219456" cy="219456"/>
          </a:xfrm>
          <a:prstGeom prst="ellipse">
            <a:avLst/>
          </a:prstGeom>
          <a:solidFill>
            <a:srgbClr val="00C8F0"/>
          </a:solidFill>
          <a:ln/>
        </p:spPr>
      </p:sp>
      <p:sp>
        <p:nvSpPr>
          <p:cNvPr id="53" name="Shape 42"/>
          <p:cNvSpPr/>
          <p:nvPr/>
        </p:nvSpPr>
        <p:spPr>
          <a:xfrm>
            <a:off x="8915400" y="3383280"/>
            <a:ext cx="2606040" cy="320040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8915400" y="3383280"/>
            <a:ext cx="2606040" cy="438912"/>
          </a:xfrm>
          <a:prstGeom prst="rect">
            <a:avLst/>
          </a:prstGeom>
          <a:solidFill>
            <a:srgbClr val="0F2A5C"/>
          </a:solidFill>
          <a:ln/>
        </p:spPr>
      </p:sp>
      <p:sp>
        <p:nvSpPr>
          <p:cNvPr id="55" name="Text 44"/>
          <p:cNvSpPr/>
          <p:nvPr/>
        </p:nvSpPr>
        <p:spPr>
          <a:xfrm>
            <a:off x="8915400" y="3447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to M12</a:t>
            </a:r>
            <a:endParaRPr lang="en-US" sz="1200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9992" y="3950208"/>
            <a:ext cx="228600" cy="22860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9390888" y="3931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SaaS launch</a:t>
            </a:r>
            <a:endParaRPr lang="en-US" sz="1200" dirty="0"/>
          </a:p>
        </p:txBody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992" y="4754880"/>
            <a:ext cx="228600" cy="22860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9390888" y="4736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billing live</a:t>
            </a:r>
            <a:endParaRPr lang="en-US" sz="1200" dirty="0"/>
          </a:p>
        </p:txBody>
      </p:sp>
      <p:pic>
        <p:nvPicPr>
          <p:cNvPr id="6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9992" y="5559552"/>
            <a:ext cx="228600" cy="228600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9390888" y="5541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 ARR run rate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OUR MOAT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1463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64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New Rocket Programs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53312" y="20848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space boom created a market that simply didn't exist 5 years ago. Every new program needs a design tool.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5394960" cy="1463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337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3101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Solvers Matured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353312" y="373075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Cantera, OpenFOAM, CalculiX reached production quality in the last 3 years — giving us the solver stack to build on.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46320"/>
            <a:ext cx="5394960" cy="1463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983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49560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PicoGK Proved the Paradigm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53312" y="537667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LEAP71 proved programmatic voxel geometry produces real, printable engines. The paradigm shift is happening right now.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537960" y="914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Moat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6537960" y="1554480"/>
            <a:ext cx="5212080" cy="1115568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6459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162763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Data Flywheel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223760" y="20116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 run feeds training data into our Physics-Informed Neural Network. More runs = better model = a moat that deepens with scale.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537960" y="2788920"/>
            <a:ext cx="5212080" cy="1115568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88036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23760" y="2862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7-Scale Physics Architecture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223760" y="3246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quantum chemistry to manufacturing geometry in one pipeline. Competitors cannot replicate this in less than 3 to 5 years.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537960" y="4023360"/>
            <a:ext cx="5212080" cy="1115568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11480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23760" y="40965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Network Effect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223760" y="44805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Open-sourcing the core creates community, contributions, and enterprise trust — the Red Hat strategy applied to aerospace.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537960" y="5257800"/>
            <a:ext cx="5212080" cy="1115568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5349240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23760" y="533095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Validation Loop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7223760" y="57150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hot-fire test with a Kryptonis-designed part creates a ground-truth data asset no competitor can purchase.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by engineers obsessed with making aerospace accessible.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892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54864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1874520"/>
            <a:ext cx="1051560" cy="1051560"/>
          </a:xfrm>
          <a:prstGeom prst="ellipse">
            <a:avLst/>
          </a:prstGeom>
          <a:solidFill>
            <a:srgbClr val="0F2A5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1874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723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Ritik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— Chief Executive Officer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959352"/>
            <a:ext cx="27889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 systems and platform strategy. Architect of the 7-scale physics pipeline. Built the KRYPTONIS codebase from first principles with 11,444 lines of production-grade Python.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 propulsion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6327648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63276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691640"/>
            <a:ext cx="3520440" cy="4892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691640"/>
            <a:ext cx="3520440" cy="54864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532120" y="1874520"/>
            <a:ext cx="1051560" cy="1051560"/>
          </a:xfrm>
          <a:prstGeom prst="ellipse">
            <a:avLst/>
          </a:prstGeom>
          <a:solidFill>
            <a:srgbClr val="0F2A5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874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297680" y="30723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Nilam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9768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— Chief Technology Officer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959352"/>
            <a:ext cx="27889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CFD and FEA specialist. Leads the real-solver integration layer — OpenFOAM, CalculiX, and the PINN surrogate training pipeline.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8056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/ FEA production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6327648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63276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integration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46720" y="1691640"/>
            <a:ext cx="3520440" cy="489204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46720" y="1691640"/>
            <a:ext cx="3520440" cy="54864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9281160" y="1874520"/>
            <a:ext cx="1051560" cy="1051560"/>
          </a:xfrm>
          <a:prstGeom prst="ellipse">
            <a:avLst/>
          </a:prstGeom>
          <a:solidFill>
            <a:srgbClr val="0F2A5C"/>
          </a:solidFill>
          <a:ln w="25400">
            <a:solidFill>
              <a:srgbClr val="00C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81160" y="18745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8046720" y="307238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Sagar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4672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— Chief Operating Officer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412480" y="3959352"/>
            <a:ext cx="2788920" cy="36576"/>
          </a:xfrm>
          <a:prstGeom prst="rect">
            <a:avLst/>
          </a:prstGeom>
          <a:solidFill>
            <a:srgbClr val="172B50"/>
          </a:solidFill>
          <a:ln/>
        </p:spPr>
      </p:sp>
      <p:sp>
        <p:nvSpPr>
          <p:cNvPr id="40" name="Text 38"/>
          <p:cNvSpPr/>
          <p:nvPr/>
        </p:nvSpPr>
        <p:spPr>
          <a:xfrm>
            <a:off x="8275320" y="406908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enterprise sales, and go-to-market execution. Background in aerospace primes and new space ecosystem. Drives customer onboarding and partnerships.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921240" y="5943600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21240" y="5943600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contracts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229600" y="6327648"/>
            <a:ext cx="1572768" cy="310896"/>
          </a:xfrm>
          <a:prstGeom prst="rect">
            <a:avLst/>
          </a:prstGeom>
          <a:solidFill>
            <a:srgbClr val="0F2A5C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632764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ecosystem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operating system for aerospace design.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4800600"/>
          </a:xfrm>
          <a:prstGeom prst="rect">
            <a:avLst/>
          </a:prstGeom>
          <a:solidFill>
            <a:srgbClr val="0D1A30"/>
          </a:solidFill>
          <a:ln w="12700">
            <a:solidFill>
              <a:srgbClr val="005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606040" cy="502920"/>
          </a:xfrm>
          <a:prstGeom prst="rect">
            <a:avLst/>
          </a:prstGeom>
          <a:solidFill>
            <a:srgbClr val="0055D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to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5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2962656"/>
            <a:ext cx="1874520" cy="36576"/>
          </a:xfrm>
          <a:prstGeom prst="rect">
            <a:avLst/>
          </a:prstGeom>
          <a:solidFill>
            <a:srgbClr val="0055D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72384"/>
            <a:ext cx="2240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Raptor, F-1, and RS-25. First paying customers. Hot-fire a Kryptonis-designed component. Prove the software-to-hardware loop.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606040" cy="4800600"/>
          </a:xfrm>
          <a:prstGeom prst="rect">
            <a:avLst/>
          </a:prstGeom>
          <a:solidFill>
            <a:srgbClr val="0D1A3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737360"/>
            <a:ext cx="2606040" cy="502920"/>
          </a:xfrm>
          <a:prstGeom prst="rect">
            <a:avLst/>
          </a:prstGeom>
          <a:solidFill>
            <a:srgbClr val="00C8F0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to 2027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340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703320" y="2962656"/>
            <a:ext cx="1874520" cy="36576"/>
          </a:xfrm>
          <a:prstGeom prst="rect">
            <a:avLst/>
          </a:prstGeom>
          <a:solidFill>
            <a:srgbClr val="00C8F0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3072384"/>
            <a:ext cx="2240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Phase 2 trained on 1,000+ real CFD runs. Open-source community of 500+ engineers. 25 enterprise contracts. Series A fundraise.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2606040" cy="4800600"/>
          </a:xfrm>
          <a:prstGeom prst="rect">
            <a:avLst/>
          </a:prstGeom>
          <a:solidFill>
            <a:srgbClr val="0D1A30"/>
          </a:solidFill>
          <a:ln w="12700">
            <a:solidFill>
              <a:srgbClr val="00D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737360"/>
            <a:ext cx="2606040" cy="502920"/>
          </a:xfrm>
          <a:prstGeom prst="rect">
            <a:avLst/>
          </a:prstGeom>
          <a:solidFill>
            <a:srgbClr val="00D98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to 2029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2340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Expansion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492240" y="2962656"/>
            <a:ext cx="1874520" cy="36576"/>
          </a:xfrm>
          <a:prstGeom prst="rect">
            <a:avLst/>
          </a:prstGeom>
          <a:solidFill>
            <a:srgbClr val="00D98B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072384"/>
            <a:ext cx="2240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Hypersonics, scramjets, electric propulsion, satellite thrusters. Kryptonis becomes the Figma of aerospace — a new engineer designs their first engine on day one.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15400" y="1737360"/>
            <a:ext cx="2606040" cy="4800600"/>
          </a:xfrm>
          <a:prstGeom prst="rect">
            <a:avLst/>
          </a:prstGeom>
          <a:solidFill>
            <a:srgbClr val="0D1A30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1737360"/>
            <a:ext cx="2606040" cy="50292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1792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onward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15400" y="2340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A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Moat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281160" y="2962656"/>
            <a:ext cx="1874520" cy="36576"/>
          </a:xfrm>
          <a:prstGeom prst="rect">
            <a:avLst/>
          </a:prstGeom>
          <a:solidFill>
            <a:srgbClr val="FF5A1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098280" y="3072384"/>
            <a:ext cx="2240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real engine designs in training corpus. The AI designs better than any individual engineer in 90% of the design space. We become infrastructure for the space 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60196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LEAP71 proved programmatic geometry works. Kryptonis closes the loop: physics   geometry   real hardware   AI training   better physics.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52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7315200" cy="7315200"/>
          </a:xfrm>
          <a:prstGeom prst="ellipse">
            <a:avLst/>
          </a:prstGeom>
          <a:solidFill>
            <a:srgbClr val="001055">
              <a:alpha val="70000"/>
            </a:srgbClr>
          </a:solidFill>
          <a:ln w="12700">
            <a:solidFill>
              <a:srgbClr val="0055DD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0" y="320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are raising $150,000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19385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the hardware loop and close our first enterprise customers.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2606040"/>
            <a:ext cx="2468880" cy="196596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700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50392" y="3547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solver validation + first 3D-printed hot-fire test part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468880" cy="196596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6700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93592" y="3547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Phase 2 training on 100+ real CFD simulation runs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606040"/>
            <a:ext cx="2468880" cy="196596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6700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36792" y="3547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enterprise customer onboarding and integration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2606040"/>
            <a:ext cx="2468880" cy="1965960"/>
          </a:xfrm>
          <a:prstGeom prst="rect">
            <a:avLst/>
          </a:prstGeom>
          <a:solidFill>
            <a:srgbClr val="0D1A30"/>
          </a:solidFill>
          <a:ln w="12700">
            <a:solidFill>
              <a:srgbClr val="172B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67004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79992" y="354787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community, documentation, and developer tools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71600" y="4773168"/>
            <a:ext cx="9418320" cy="1280160"/>
          </a:xfrm>
          <a:prstGeom prst="rect">
            <a:avLst/>
          </a:prstGeom>
          <a:solidFill>
            <a:srgbClr val="0D1A30"/>
          </a:solidFill>
          <a:ln w="12700">
            <a:solidFill>
              <a:srgbClr val="00C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89204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capital, we are looking for: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52578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aerospace mentors with engine design and procurement experience   ·   Introductions to 3 to 5 new space startups for design partnerships   ·   Credibility to accelerate enterprise contract closes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6263640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kryptonis.ai   |   founders@kryptonis.ai   |   github.com/kryptonis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2026-06-08T02:34:36Z</dcterms:created>
  <dcterms:modified xsi:type="dcterms:W3CDTF">2026-06-08T02:34:36Z</dcterms:modified>
</cp:coreProperties>
</file>